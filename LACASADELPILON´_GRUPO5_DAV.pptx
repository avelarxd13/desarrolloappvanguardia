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8" r:id="rId1"/>
    <p:sldMasterId id="2147483669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4" r:id="rId7"/>
    <p:sldId id="265" r:id="rId8"/>
    <p:sldId id="267" r:id="rId9"/>
    <p:sldId id="269" r:id="rId10"/>
    <p:sldId id="270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E554C2-B516-42FD-BE79-E6D6CB751638}">
  <a:tblStyle styleId="{6CE554C2-B516-42FD-BE79-E6D6CB7516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0fb1fb1e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20fb1fb1e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0fb1fb1e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20fb1fb1e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1eedecf9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1eedecf9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0fb1fb1e_0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20fb1fb1e_0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0fb1fb1e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20fb1fb1e_0_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20fb1fb1e_0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20fb1fb1e_0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20fb1fb1e_0_8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20fb1fb1e_0_8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1ABC9C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rgbClr val="1ABC9C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434343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solidFill>
          <a:srgbClr val="1ABC9C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434343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757200" y="2161800"/>
            <a:ext cx="56298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419100" algn="ctr" rtl="0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3000" i="1">
                <a:solidFill>
                  <a:srgbClr val="434343"/>
                </a:solidFill>
              </a:defRPr>
            </a:lvl1pPr>
            <a:lvl2pPr marL="914400" lvl="1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3000" i="1">
                <a:solidFill>
                  <a:srgbClr val="434343"/>
                </a:solidFill>
              </a:defRPr>
            </a:lvl2pPr>
            <a:lvl3pPr marL="1371600" lvl="2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3000" i="1">
                <a:solidFill>
                  <a:srgbClr val="434343"/>
                </a:solidFill>
              </a:defRPr>
            </a:lvl3pPr>
            <a:lvl4pPr marL="1828800" lvl="3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3000" i="1">
                <a:solidFill>
                  <a:srgbClr val="434343"/>
                </a:solidFill>
              </a:defRPr>
            </a:lvl4pPr>
            <a:lvl5pPr marL="2286000" lvl="4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3000" i="1">
                <a:solidFill>
                  <a:srgbClr val="434343"/>
                </a:solidFill>
              </a:defRPr>
            </a:lvl5pPr>
            <a:lvl6pPr marL="2743200" lvl="5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3000" i="1">
                <a:solidFill>
                  <a:srgbClr val="434343"/>
                </a:solidFill>
              </a:defRPr>
            </a:lvl6pPr>
            <a:lvl7pPr marL="3200400" lvl="6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3000" i="1">
                <a:solidFill>
                  <a:srgbClr val="434343"/>
                </a:solidFill>
              </a:defRPr>
            </a:lvl7pPr>
            <a:lvl8pPr marL="3657600" lvl="7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3000" i="1">
                <a:solidFill>
                  <a:srgbClr val="434343"/>
                </a:solidFill>
              </a:defRPr>
            </a:lvl8pPr>
            <a:lvl9pPr marL="4114800" lvl="8" indent="-4191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3000" i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/>
          <p:nvPr/>
        </p:nvSpPr>
        <p:spPr>
          <a:xfrm>
            <a:off x="205550" y="75075"/>
            <a:ext cx="7995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sz="12000" b="1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922000" y="1887378"/>
            <a:ext cx="3543300" cy="30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4678687" y="1887378"/>
            <a:ext cx="3543300" cy="30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922000" y="1930500"/>
            <a:ext cx="2332200" cy="29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400"/>
              <a:buChar char="○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400"/>
              <a:buChar char="■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3373778" y="1930500"/>
            <a:ext cx="2332200" cy="29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400"/>
              <a:buChar char="○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400"/>
              <a:buChar char="■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3"/>
          </p:nvPr>
        </p:nvSpPr>
        <p:spPr>
          <a:xfrm>
            <a:off x="5825557" y="1930500"/>
            <a:ext cx="2332200" cy="29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400"/>
              <a:buChar char="○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400"/>
              <a:buChar char="■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457200" y="42539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49" name="Google Shape;49;p10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lored">
  <p:cSld name="BLANK_1">
    <p:bg>
      <p:bgPr>
        <a:solidFill>
          <a:srgbClr val="1ABC9C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52" name="Google Shape;52;p11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1ABC9C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rgbClr val="1ABC9C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434343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solidFill>
          <a:srgbClr val="1ABC9C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 flipH="1"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434343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1757200" y="2161800"/>
            <a:ext cx="56298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419100" algn="ctr" rtl="0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3000" i="1">
                <a:solidFill>
                  <a:srgbClr val="434343"/>
                </a:solidFill>
              </a:defRPr>
            </a:lvl1pPr>
            <a:lvl2pPr marL="914400" lvl="1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3000" i="1">
                <a:solidFill>
                  <a:srgbClr val="434343"/>
                </a:solidFill>
              </a:defRPr>
            </a:lvl2pPr>
            <a:lvl3pPr marL="1371600" lvl="2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3000" i="1">
                <a:solidFill>
                  <a:srgbClr val="434343"/>
                </a:solidFill>
              </a:defRPr>
            </a:lvl3pPr>
            <a:lvl4pPr marL="1828800" lvl="3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3000" i="1">
                <a:solidFill>
                  <a:srgbClr val="434343"/>
                </a:solidFill>
              </a:defRPr>
            </a:lvl4pPr>
            <a:lvl5pPr marL="2286000" lvl="4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3000" i="1">
                <a:solidFill>
                  <a:srgbClr val="434343"/>
                </a:solidFill>
              </a:defRPr>
            </a:lvl5pPr>
            <a:lvl6pPr marL="2743200" lvl="5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3000" i="1">
                <a:solidFill>
                  <a:srgbClr val="434343"/>
                </a:solidFill>
              </a:defRPr>
            </a:lvl6pPr>
            <a:lvl7pPr marL="3200400" lvl="6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3000" i="1">
                <a:solidFill>
                  <a:srgbClr val="434343"/>
                </a:solidFill>
              </a:defRPr>
            </a:lvl7pPr>
            <a:lvl8pPr marL="3657600" lvl="7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3000" i="1">
                <a:solidFill>
                  <a:srgbClr val="434343"/>
                </a:solidFill>
              </a:defRPr>
            </a:lvl8pPr>
            <a:lvl9pPr marL="4114800" lvl="8" indent="-4191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3000" i="1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205550" y="75075"/>
            <a:ext cx="7995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sz="12000" b="1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Char char="○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922000" y="1887378"/>
            <a:ext cx="3543300" cy="30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2"/>
          </p:nvPr>
        </p:nvSpPr>
        <p:spPr>
          <a:xfrm>
            <a:off x="4678687" y="1887378"/>
            <a:ext cx="3543300" cy="30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922000" y="1930500"/>
            <a:ext cx="2332200" cy="29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3373778" y="1930500"/>
            <a:ext cx="2332200" cy="29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5825557" y="1930500"/>
            <a:ext cx="2332200" cy="29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body" idx="1"/>
          </p:nvPr>
        </p:nvSpPr>
        <p:spPr>
          <a:xfrm>
            <a:off x="457200" y="42539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97" name="Google Shape;97;p21"/>
          <p:cNvSpPr/>
          <p:nvPr/>
        </p:nvSpPr>
        <p:spPr>
          <a:xfrm>
            <a:off x="390735" y="379877"/>
            <a:ext cx="8362529" cy="4383746"/>
          </a:xfrm>
          <a:custGeom>
            <a:avLst/>
            <a:gdLst/>
            <a:ahLst/>
            <a:cxnLst/>
            <a:rect l="l" t="t" r="r" b="b"/>
            <a:pathLst>
              <a:path w="285508" h="149667" fill="none" extrusionOk="0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w="19050" cap="flat" cmpd="sng">
            <a:solidFill>
              <a:srgbClr val="1ABC9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sz="580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body" idx="1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sz="1800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buNone/>
              <a:defRPr sz="1300">
                <a:solidFill>
                  <a:srgbClr val="1ABC9C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jp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lacasadelpilon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ctrTitle"/>
          </p:nvPr>
        </p:nvSpPr>
        <p:spPr>
          <a:xfrm>
            <a:off x="685800" y="1625258"/>
            <a:ext cx="3543300" cy="18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 Casa del Pilón</a:t>
            </a:r>
            <a:endParaRPr dirty="0"/>
          </a:p>
        </p:txBody>
      </p:sp>
      <p:pic>
        <p:nvPicPr>
          <p:cNvPr id="106" name="Google Shape;106;p23"/>
          <p:cNvPicPr preferRelativeResize="0"/>
          <p:nvPr/>
        </p:nvPicPr>
        <p:blipFill rotWithShape="1">
          <a:blip r:embed="rId3">
            <a:alphaModFix/>
          </a:blip>
          <a:srcRect r="74827"/>
          <a:stretch/>
        </p:blipFill>
        <p:spPr>
          <a:xfrm>
            <a:off x="7972850" y="249550"/>
            <a:ext cx="981748" cy="96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38712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¿Cuál es el </a:t>
            </a:r>
            <a:r>
              <a:rPr lang="en" sz="3600" dirty="0">
                <a:solidFill>
                  <a:srgbClr val="1ABC9C"/>
                </a:solidFill>
              </a:rPr>
              <a:t>problema?</a:t>
            </a:r>
            <a:r>
              <a:rPr lang="en" sz="3600" dirty="0"/>
              <a:t> </a:t>
            </a:r>
            <a:endParaRPr sz="3600" dirty="0"/>
          </a:p>
        </p:txBody>
      </p:sp>
      <p:sp>
        <p:nvSpPr>
          <p:cNvPr id="113" name="Google Shape;113;p24"/>
          <p:cNvSpPr txBox="1">
            <a:spLocks noGrp="1"/>
          </p:cNvSpPr>
          <p:nvPr>
            <p:ph type="body" idx="1"/>
          </p:nvPr>
        </p:nvSpPr>
        <p:spPr>
          <a:xfrm>
            <a:off x="922050" y="2241251"/>
            <a:ext cx="4035300" cy="14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Escribe oraciones concisas y claras: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800"/>
              <a:buChar char="●"/>
            </a:pPr>
            <a:r>
              <a:rPr lang="en" dirty="0"/>
              <a:t>Falta de Organización.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800"/>
              <a:buChar char="●"/>
            </a:pPr>
            <a:r>
              <a:rPr lang="en" dirty="0"/>
              <a:t>Entregas atrasadas.</a:t>
            </a: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800"/>
              <a:buChar char="●"/>
            </a:pPr>
            <a:endParaRPr dirty="0"/>
          </a:p>
        </p:txBody>
      </p:sp>
      <p:pic>
        <p:nvPicPr>
          <p:cNvPr id="114" name="Google Shape;114;p24"/>
          <p:cNvPicPr preferRelativeResize="0"/>
          <p:nvPr/>
        </p:nvPicPr>
        <p:blipFill rotWithShape="1">
          <a:blip r:embed="rId3">
            <a:alphaModFix/>
          </a:blip>
          <a:srcRect l="16671" r="16671"/>
          <a:stretch/>
        </p:blipFill>
        <p:spPr>
          <a:xfrm>
            <a:off x="4957350" y="891600"/>
            <a:ext cx="3360300" cy="3360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5" name="Google Shape;115;p24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16" name="Google Shape;116;p24"/>
          <p:cNvSpPr/>
          <p:nvPr/>
        </p:nvSpPr>
        <p:spPr>
          <a:xfrm>
            <a:off x="8120076" y="326788"/>
            <a:ext cx="729931" cy="729886"/>
          </a:xfrm>
          <a:custGeom>
            <a:avLst/>
            <a:gdLst/>
            <a:ahLst/>
            <a:cxnLst/>
            <a:rect l="l" t="t" r="r" b="b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5"/>
          <p:cNvPicPr preferRelativeResize="0"/>
          <p:nvPr/>
        </p:nvPicPr>
        <p:blipFill rotWithShape="1">
          <a:blip r:embed="rId3">
            <a:alphaModFix/>
          </a:blip>
          <a:srcRect l="5266" t="22392" r="44434" b="10542"/>
          <a:stretch/>
        </p:blipFill>
        <p:spPr>
          <a:xfrm>
            <a:off x="994950" y="891600"/>
            <a:ext cx="3360300" cy="3360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2" name="Google Shape;122;p25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title"/>
          </p:nvPr>
        </p:nvSpPr>
        <p:spPr>
          <a:xfrm>
            <a:off x="4701893" y="891775"/>
            <a:ext cx="38712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¿Cómo lo estás </a:t>
            </a:r>
            <a:r>
              <a:rPr lang="en" sz="3600">
                <a:solidFill>
                  <a:srgbClr val="1ABC9C"/>
                </a:solidFill>
              </a:rPr>
              <a:t>solucionando</a:t>
            </a:r>
            <a:r>
              <a:rPr lang="en" sz="3600"/>
              <a:t>? </a:t>
            </a:r>
            <a:endParaRPr sz="3600"/>
          </a:p>
        </p:txBody>
      </p:sp>
      <p:sp>
        <p:nvSpPr>
          <p:cNvPr id="124" name="Google Shape;124;p25"/>
          <p:cNvSpPr txBox="1">
            <a:spLocks noGrp="1"/>
          </p:cNvSpPr>
          <p:nvPr>
            <p:ph type="body" idx="1"/>
          </p:nvPr>
        </p:nvSpPr>
        <p:spPr>
          <a:xfrm>
            <a:off x="4701900" y="2171700"/>
            <a:ext cx="3948600" cy="21924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Escribe oraciones concisas y claras: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BC9C"/>
              </a:buClr>
              <a:buSzPts val="1800"/>
              <a:buChar char="●"/>
            </a:pPr>
            <a:r>
              <a:rPr lang="en" dirty="0"/>
              <a:t>Organizando pedidos por orden de entrega.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Char char="●"/>
            </a:pPr>
            <a:r>
              <a:rPr lang="es-HN" dirty="0"/>
              <a:t>Generando alertas.</a:t>
            </a:r>
            <a:endParaRPr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rgbClr val="1ABC9C"/>
              </a:buClr>
              <a:buSzPts val="1800"/>
              <a:buNone/>
            </a:pPr>
            <a:endParaRPr dirty="0"/>
          </a:p>
        </p:txBody>
      </p:sp>
      <p:sp>
        <p:nvSpPr>
          <p:cNvPr id="125" name="Google Shape;125;p25"/>
          <p:cNvSpPr/>
          <p:nvPr/>
        </p:nvSpPr>
        <p:spPr>
          <a:xfrm>
            <a:off x="8120072" y="304251"/>
            <a:ext cx="752465" cy="752430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>
            <a:spLocks noGrp="1"/>
          </p:cNvSpPr>
          <p:nvPr>
            <p:ph type="ctrTitle" idx="4294967295"/>
          </p:nvPr>
        </p:nvSpPr>
        <p:spPr>
          <a:xfrm>
            <a:off x="654000" y="1685850"/>
            <a:ext cx="4760100" cy="177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solidFill>
                  <a:srgbClr val="1ABC9C"/>
                </a:solidFill>
              </a:rPr>
              <a:t>¿Cómo </a:t>
            </a:r>
            <a:r>
              <a:rPr lang="en" sz="5500"/>
              <a:t>funciona?</a:t>
            </a:r>
            <a:endParaRPr sz="5500"/>
          </a:p>
        </p:txBody>
      </p:sp>
      <p:sp>
        <p:nvSpPr>
          <p:cNvPr id="131" name="Google Shape;131;p26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132" name="Google Shape;132;p26"/>
          <p:cNvGrpSpPr/>
          <p:nvPr/>
        </p:nvGrpSpPr>
        <p:grpSpPr>
          <a:xfrm>
            <a:off x="5644718" y="1505155"/>
            <a:ext cx="2600306" cy="1923805"/>
            <a:chOff x="5255200" y="3006475"/>
            <a:chExt cx="511700" cy="378575"/>
          </a:xfrm>
        </p:grpSpPr>
        <p:sp>
          <p:nvSpPr>
            <p:cNvPr id="133" name="Google Shape;133;p26"/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l" t="t" r="r" b="b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6"/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l" t="t" r="r" b="b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Análisis de la</a:t>
            </a:r>
            <a:r>
              <a:rPr lang="en" sz="3600">
                <a:solidFill>
                  <a:srgbClr val="1ABC9C"/>
                </a:solidFill>
              </a:rPr>
              <a:t> Competencia</a:t>
            </a:r>
            <a:endParaRPr sz="3600"/>
          </a:p>
        </p:txBody>
      </p:sp>
      <p:graphicFrame>
        <p:nvGraphicFramePr>
          <p:cNvPr id="172" name="Google Shape;172;p31"/>
          <p:cNvGraphicFramePr/>
          <p:nvPr>
            <p:extLst>
              <p:ext uri="{D42A27DB-BD31-4B8C-83A1-F6EECF244321}">
                <p14:modId xmlns:p14="http://schemas.microsoft.com/office/powerpoint/2010/main" val="3882246450"/>
              </p:ext>
            </p:extLst>
          </p:nvPr>
        </p:nvGraphicFramePr>
        <p:xfrm>
          <a:off x="922000" y="1901581"/>
          <a:ext cx="7276100" cy="2379410"/>
        </p:xfrm>
        <a:graphic>
          <a:graphicData uri="http://schemas.openxmlformats.org/drawingml/2006/table">
            <a:tbl>
              <a:tblPr>
                <a:noFill/>
                <a:tableStyleId>{6CE554C2-B516-42FD-BE79-E6D6CB751638}</a:tableStyleId>
              </a:tblPr>
              <a:tblGrid>
                <a:gridCol w="181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9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BC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Tu empresa</a:t>
                      </a:r>
                      <a:endParaRPr b="1">
                        <a:solidFill>
                          <a:srgbClr val="FFFFFF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BC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434343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Startup B</a:t>
                      </a:r>
                      <a:endParaRPr dirty="0">
                        <a:solidFill>
                          <a:srgbClr val="434343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BC9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434343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Startup C</a:t>
                      </a:r>
                      <a:endParaRPr>
                        <a:solidFill>
                          <a:srgbClr val="434343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BC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434343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Saludable</a:t>
                      </a:r>
                      <a:endParaRPr dirty="0">
                        <a:solidFill>
                          <a:srgbClr val="434343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1ABC9C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✓</a:t>
                      </a:r>
                      <a:endParaRPr sz="1800" dirty="0">
                        <a:solidFill>
                          <a:srgbClr val="1ABC9C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434343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X</a:t>
                      </a:r>
                      <a:endParaRPr sz="1800">
                        <a:solidFill>
                          <a:srgbClr val="434343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434343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X</a:t>
                      </a:r>
                      <a:endParaRPr sz="1800">
                        <a:solidFill>
                          <a:srgbClr val="434343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434343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Economico</a:t>
                      </a:r>
                      <a:endParaRPr dirty="0">
                        <a:solidFill>
                          <a:srgbClr val="434343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1ABC9C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✓</a:t>
                      </a:r>
                      <a:endParaRPr sz="1800">
                        <a:solidFill>
                          <a:srgbClr val="1ABC9C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434343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X</a:t>
                      </a:r>
                      <a:endParaRPr sz="1800" dirty="0">
                        <a:solidFill>
                          <a:srgbClr val="434343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1ABC9C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✓</a:t>
                      </a:r>
                      <a:endParaRPr sz="1800">
                        <a:solidFill>
                          <a:srgbClr val="434343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rgbClr val="434343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Buena presentación</a:t>
                      </a:r>
                      <a:endParaRPr dirty="0">
                        <a:solidFill>
                          <a:srgbClr val="434343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1ABC9C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✓</a:t>
                      </a:r>
                      <a:endParaRPr sz="1800" dirty="0">
                        <a:solidFill>
                          <a:srgbClr val="1ABC9C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 dirty="0">
                          <a:solidFill>
                            <a:srgbClr val="1ABC9C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✓</a:t>
                      </a:r>
                      <a:endParaRPr sz="1800" dirty="0">
                        <a:solidFill>
                          <a:srgbClr val="434343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rgbClr val="434343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X</a:t>
                      </a:r>
                      <a:endParaRPr sz="1800" dirty="0">
                        <a:solidFill>
                          <a:srgbClr val="434343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1ABC9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3" name="Google Shape;173;p31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grpSp>
        <p:nvGrpSpPr>
          <p:cNvPr id="174" name="Google Shape;174;p31"/>
          <p:cNvGrpSpPr/>
          <p:nvPr/>
        </p:nvGrpSpPr>
        <p:grpSpPr>
          <a:xfrm>
            <a:off x="8089119" y="319162"/>
            <a:ext cx="728350" cy="743348"/>
            <a:chOff x="3955900" y="2984500"/>
            <a:chExt cx="414000" cy="422525"/>
          </a:xfrm>
        </p:grpSpPr>
        <p:sp>
          <p:nvSpPr>
            <p:cNvPr id="175" name="Google Shape;175;p31"/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1"/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1"/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922000" y="1496513"/>
            <a:ext cx="2935500" cy="18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¿Cómo haces </a:t>
            </a:r>
            <a:r>
              <a:rPr lang="en" sz="4800">
                <a:solidFill>
                  <a:srgbClr val="1ABC9C"/>
                </a:solidFill>
              </a:rPr>
              <a:t>Dinero</a:t>
            </a:r>
            <a:r>
              <a:rPr lang="en" sz="4800"/>
              <a:t>?</a:t>
            </a:r>
            <a:endParaRPr sz="4800"/>
          </a:p>
        </p:txBody>
      </p:sp>
      <p:sp>
        <p:nvSpPr>
          <p:cNvPr id="183" name="Google Shape;183;p32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grpSp>
        <p:nvGrpSpPr>
          <p:cNvPr id="184" name="Google Shape;184;p32"/>
          <p:cNvGrpSpPr/>
          <p:nvPr/>
        </p:nvGrpSpPr>
        <p:grpSpPr>
          <a:xfrm>
            <a:off x="4343905" y="1162348"/>
            <a:ext cx="2552937" cy="2552937"/>
            <a:chOff x="4447194" y="1815766"/>
            <a:chExt cx="2440200" cy="2440200"/>
          </a:xfrm>
        </p:grpSpPr>
        <p:sp>
          <p:nvSpPr>
            <p:cNvPr id="185" name="Google Shape;185;p32"/>
            <p:cNvSpPr/>
            <p:nvPr/>
          </p:nvSpPr>
          <p:spPr>
            <a:xfrm>
              <a:off x="4447194" y="1815766"/>
              <a:ext cx="2440200" cy="2440200"/>
            </a:xfrm>
            <a:prstGeom prst="ellipse">
              <a:avLst/>
            </a:prstGeom>
            <a:solidFill>
              <a:srgbClr val="1ABC9C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695C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sp>
          <p:nvSpPr>
            <p:cNvPr id="186" name="Google Shape;186;p32"/>
            <p:cNvSpPr txBox="1"/>
            <p:nvPr/>
          </p:nvSpPr>
          <p:spPr>
            <a:xfrm>
              <a:off x="4735950" y="2504275"/>
              <a:ext cx="1862700" cy="1163400"/>
            </a:xfrm>
            <a:prstGeom prst="rect">
              <a:avLst/>
            </a:pr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Modelo de Negocios</a:t>
              </a:r>
              <a:endParaRPr sz="2400" b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190" name="Google Shape;190;p32"/>
          <p:cNvSpPr/>
          <p:nvPr/>
        </p:nvSpPr>
        <p:spPr>
          <a:xfrm>
            <a:off x="8076353" y="353276"/>
            <a:ext cx="806102" cy="633812"/>
          </a:xfrm>
          <a:custGeom>
            <a:avLst/>
            <a:gdLst/>
            <a:ahLst/>
            <a:cxnLst/>
            <a:rect l="l" t="t" r="r" b="b"/>
            <a:pathLst>
              <a:path w="18513" h="14557" extrusionOk="0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1" name="Google Shape;191;p32"/>
          <p:cNvGrpSpPr/>
          <p:nvPr/>
        </p:nvGrpSpPr>
        <p:grpSpPr>
          <a:xfrm>
            <a:off x="5384079" y="448088"/>
            <a:ext cx="1512763" cy="1458723"/>
            <a:chOff x="644203" y="3718814"/>
            <a:chExt cx="1498800" cy="1498800"/>
          </a:xfrm>
        </p:grpSpPr>
        <p:sp>
          <p:nvSpPr>
            <p:cNvPr id="192" name="Google Shape;192;p32"/>
            <p:cNvSpPr/>
            <p:nvPr/>
          </p:nvSpPr>
          <p:spPr>
            <a:xfrm>
              <a:off x="644203" y="3718814"/>
              <a:ext cx="1498800" cy="1498800"/>
            </a:xfrm>
            <a:prstGeom prst="ellipse">
              <a:avLst/>
            </a:prstGeom>
            <a:solidFill>
              <a:srgbClr val="00695C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695C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sp>
          <p:nvSpPr>
            <p:cNvPr id="193" name="Google Shape;193;p32"/>
            <p:cNvSpPr txBox="1"/>
            <p:nvPr/>
          </p:nvSpPr>
          <p:spPr>
            <a:xfrm>
              <a:off x="773660" y="4211716"/>
              <a:ext cx="1258764" cy="509033"/>
            </a:xfrm>
            <a:prstGeom prst="rect">
              <a:avLst/>
            </a:prstGeom>
            <a:solidFill>
              <a:srgbClr val="00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Instituciones</a:t>
              </a:r>
              <a:endParaRPr sz="12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94" name="Google Shape;194;p32"/>
          <p:cNvGrpSpPr/>
          <p:nvPr/>
        </p:nvGrpSpPr>
        <p:grpSpPr>
          <a:xfrm>
            <a:off x="5398764" y="3191700"/>
            <a:ext cx="1498078" cy="1510726"/>
            <a:chOff x="644203" y="3718814"/>
            <a:chExt cx="1498800" cy="1498800"/>
          </a:xfrm>
        </p:grpSpPr>
        <p:sp>
          <p:nvSpPr>
            <p:cNvPr id="195" name="Google Shape;195;p32"/>
            <p:cNvSpPr/>
            <p:nvPr/>
          </p:nvSpPr>
          <p:spPr>
            <a:xfrm>
              <a:off x="644203" y="3718814"/>
              <a:ext cx="1498800" cy="1498800"/>
            </a:xfrm>
            <a:prstGeom prst="ellipse">
              <a:avLst/>
            </a:prstGeom>
            <a:solidFill>
              <a:srgbClr val="00695C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695C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sp>
          <p:nvSpPr>
            <p:cNvPr id="196" name="Google Shape;196;p32"/>
            <p:cNvSpPr txBox="1"/>
            <p:nvPr/>
          </p:nvSpPr>
          <p:spPr>
            <a:xfrm>
              <a:off x="851654" y="4185624"/>
              <a:ext cx="1083898" cy="595048"/>
            </a:xfrm>
            <a:prstGeom prst="rect">
              <a:avLst/>
            </a:prstGeom>
            <a:solidFill>
              <a:srgbClr val="00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Consumidor final</a:t>
              </a:r>
              <a:endParaRPr sz="12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7" name="Google Shape;194;p32">
            <a:extLst>
              <a:ext uri="{FF2B5EF4-FFF2-40B4-BE49-F238E27FC236}">
                <a16:creationId xmlns:a16="http://schemas.microsoft.com/office/drawing/2014/main" id="{6942FC87-E13D-9723-320F-4374E864BC53}"/>
              </a:ext>
            </a:extLst>
          </p:cNvPr>
          <p:cNvGrpSpPr/>
          <p:nvPr/>
        </p:nvGrpSpPr>
        <p:grpSpPr>
          <a:xfrm>
            <a:off x="6419914" y="1767528"/>
            <a:ext cx="1498078" cy="1510726"/>
            <a:chOff x="644203" y="3718814"/>
            <a:chExt cx="1498800" cy="1498800"/>
          </a:xfrm>
        </p:grpSpPr>
        <p:sp>
          <p:nvSpPr>
            <p:cNvPr id="18" name="Google Shape;195;p32">
              <a:extLst>
                <a:ext uri="{FF2B5EF4-FFF2-40B4-BE49-F238E27FC236}">
                  <a16:creationId xmlns:a16="http://schemas.microsoft.com/office/drawing/2014/main" id="{F46A2AE1-476C-8517-0D35-03DA4A03D09B}"/>
                </a:ext>
              </a:extLst>
            </p:cNvPr>
            <p:cNvSpPr/>
            <p:nvPr/>
          </p:nvSpPr>
          <p:spPr>
            <a:xfrm>
              <a:off x="644203" y="3718814"/>
              <a:ext cx="1498800" cy="1498800"/>
            </a:xfrm>
            <a:prstGeom prst="ellipse">
              <a:avLst/>
            </a:prstGeom>
            <a:solidFill>
              <a:srgbClr val="00695C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rgbClr val="00695C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  <p:sp>
          <p:nvSpPr>
            <p:cNvPr id="19" name="Google Shape;196;p32">
              <a:extLst>
                <a:ext uri="{FF2B5EF4-FFF2-40B4-BE49-F238E27FC236}">
                  <a16:creationId xmlns:a16="http://schemas.microsoft.com/office/drawing/2014/main" id="{987D2075-3A35-4AF0-F653-0A2A7129942F}"/>
                </a:ext>
              </a:extLst>
            </p:cNvPr>
            <p:cNvSpPr txBox="1"/>
            <p:nvPr/>
          </p:nvSpPr>
          <p:spPr>
            <a:xfrm>
              <a:off x="851654" y="4185624"/>
              <a:ext cx="1083898" cy="595048"/>
            </a:xfrm>
            <a:prstGeom prst="rect">
              <a:avLst/>
            </a:prstGeom>
            <a:solidFill>
              <a:srgbClr val="0069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Mini super</a:t>
              </a:r>
              <a:endParaRPr sz="1200" b="1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>
            <a:spLocks noGrp="1"/>
          </p:cNvSpPr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¿Cómo obtendrás </a:t>
            </a:r>
            <a:r>
              <a:rPr lang="en" dirty="0">
                <a:solidFill>
                  <a:srgbClr val="1ABC9C"/>
                </a:solidFill>
              </a:rPr>
              <a:t>usuarios</a:t>
            </a:r>
            <a:r>
              <a:rPr lang="en" dirty="0"/>
              <a:t>?</a:t>
            </a:r>
            <a:endParaRPr dirty="0">
              <a:solidFill>
                <a:srgbClr val="1ABC9C"/>
              </a:solidFill>
            </a:endParaRPr>
          </a:p>
        </p:txBody>
      </p:sp>
      <p:sp>
        <p:nvSpPr>
          <p:cNvPr id="215" name="Google Shape;215;p34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16" name="Google Shape;216;p34"/>
          <p:cNvSpPr/>
          <p:nvPr/>
        </p:nvSpPr>
        <p:spPr>
          <a:xfrm>
            <a:off x="2153463" y="3646713"/>
            <a:ext cx="594300" cy="36900"/>
          </a:xfrm>
          <a:prstGeom prst="roundRect">
            <a:avLst>
              <a:gd name="adj" fmla="val 50000"/>
            </a:avLst>
          </a:pr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17" name="Google Shape;217;p34"/>
          <p:cNvSpPr/>
          <p:nvPr/>
        </p:nvSpPr>
        <p:spPr>
          <a:xfrm>
            <a:off x="987971" y="3092650"/>
            <a:ext cx="857400" cy="857400"/>
          </a:xfrm>
          <a:prstGeom prst="ellipse">
            <a:avLst/>
          </a:prstGeom>
          <a:noFill/>
          <a:ln w="3810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18" name="Google Shape;218;p34"/>
          <p:cNvSpPr txBox="1"/>
          <p:nvPr/>
        </p:nvSpPr>
        <p:spPr>
          <a:xfrm>
            <a:off x="1174129" y="3275380"/>
            <a:ext cx="509989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rPr lang="en" sz="1800" b="1" dirty="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sz="1800" b="1" dirty="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9" name="Google Shape;219;p34"/>
          <p:cNvSpPr txBox="1"/>
          <p:nvPr/>
        </p:nvSpPr>
        <p:spPr>
          <a:xfrm>
            <a:off x="410904" y="4197639"/>
            <a:ext cx="2011533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Publicidad en Facebook</a:t>
            </a:r>
            <a:endParaRPr sz="1600" dirty="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20" name="Google Shape;220;p34"/>
          <p:cNvSpPr/>
          <p:nvPr/>
        </p:nvSpPr>
        <p:spPr>
          <a:xfrm>
            <a:off x="3122681" y="3092650"/>
            <a:ext cx="857400" cy="857400"/>
          </a:xfrm>
          <a:prstGeom prst="ellipse">
            <a:avLst/>
          </a:prstGeom>
          <a:noFill/>
          <a:ln w="3810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21" name="Google Shape;221;p34"/>
          <p:cNvSpPr txBox="1"/>
          <p:nvPr/>
        </p:nvSpPr>
        <p:spPr>
          <a:xfrm>
            <a:off x="2709083" y="4197639"/>
            <a:ext cx="170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Publicidad en Instagram</a:t>
            </a:r>
            <a:endParaRPr sz="1600" dirty="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22" name="Google Shape;222;p34"/>
          <p:cNvSpPr txBox="1"/>
          <p:nvPr/>
        </p:nvSpPr>
        <p:spPr>
          <a:xfrm>
            <a:off x="3254226" y="3284650"/>
            <a:ext cx="5943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rPr lang="en" sz="1800" b="1" dirty="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sz="1800" b="1" dirty="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3" name="Google Shape;223;p34"/>
          <p:cNvSpPr/>
          <p:nvPr/>
        </p:nvSpPr>
        <p:spPr>
          <a:xfrm>
            <a:off x="5199667" y="3092650"/>
            <a:ext cx="857400" cy="857400"/>
          </a:xfrm>
          <a:prstGeom prst="ellipse">
            <a:avLst/>
          </a:prstGeom>
          <a:noFill/>
          <a:ln w="3810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24" name="Google Shape;224;p34"/>
          <p:cNvSpPr txBox="1"/>
          <p:nvPr/>
        </p:nvSpPr>
        <p:spPr>
          <a:xfrm>
            <a:off x="4802191" y="3950050"/>
            <a:ext cx="1483841" cy="693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Ventas locales</a:t>
            </a:r>
            <a:endParaRPr sz="1600" dirty="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25" name="Google Shape;225;p34"/>
          <p:cNvSpPr txBox="1"/>
          <p:nvPr/>
        </p:nvSpPr>
        <p:spPr>
          <a:xfrm>
            <a:off x="5416108" y="3284649"/>
            <a:ext cx="436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rPr lang="en" sz="1800" b="1" dirty="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sz="1800" b="1" dirty="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6" name="Google Shape;226;p34"/>
          <p:cNvSpPr/>
          <p:nvPr/>
        </p:nvSpPr>
        <p:spPr>
          <a:xfrm>
            <a:off x="7288948" y="3092650"/>
            <a:ext cx="857400" cy="857400"/>
          </a:xfrm>
          <a:prstGeom prst="ellipse">
            <a:avLst/>
          </a:prstGeom>
          <a:noFill/>
          <a:ln w="38100" cap="flat" cmpd="sng">
            <a:solidFill>
              <a:srgbClr val="1ABC9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27" name="Google Shape;227;p34"/>
          <p:cNvSpPr txBox="1"/>
          <p:nvPr/>
        </p:nvSpPr>
        <p:spPr>
          <a:xfrm>
            <a:off x="6863098" y="4181238"/>
            <a:ext cx="170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Información en pagina web</a:t>
            </a:r>
            <a:endParaRPr sz="1600" dirty="0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28" name="Google Shape;228;p34"/>
          <p:cNvSpPr txBox="1"/>
          <p:nvPr/>
        </p:nvSpPr>
        <p:spPr>
          <a:xfrm>
            <a:off x="7499261" y="3284649"/>
            <a:ext cx="4368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100"/>
              <a:buNone/>
            </a:pPr>
            <a:r>
              <a:rPr lang="en" sz="1800" b="1" dirty="0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sz="1800" b="1" dirty="0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4325675" y="3646713"/>
            <a:ext cx="594300" cy="36900"/>
          </a:xfrm>
          <a:prstGeom prst="roundRect">
            <a:avLst>
              <a:gd name="adj" fmla="val 50000"/>
            </a:avLst>
          </a:pr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30" name="Google Shape;230;p34"/>
          <p:cNvSpPr/>
          <p:nvPr/>
        </p:nvSpPr>
        <p:spPr>
          <a:xfrm>
            <a:off x="6407650" y="3646713"/>
            <a:ext cx="594300" cy="36900"/>
          </a:xfrm>
          <a:prstGeom prst="roundRect">
            <a:avLst>
              <a:gd name="adj" fmla="val 50000"/>
            </a:avLst>
          </a:pr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grpSp>
        <p:nvGrpSpPr>
          <p:cNvPr id="231" name="Google Shape;231;p34"/>
          <p:cNvGrpSpPr/>
          <p:nvPr/>
        </p:nvGrpSpPr>
        <p:grpSpPr>
          <a:xfrm>
            <a:off x="8056341" y="328340"/>
            <a:ext cx="793827" cy="724368"/>
            <a:chOff x="6625350" y="1613750"/>
            <a:chExt cx="480525" cy="438400"/>
          </a:xfrm>
        </p:grpSpPr>
        <p:sp>
          <p:nvSpPr>
            <p:cNvPr id="232" name="Google Shape;232;p34"/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l" t="t" r="r" b="b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4"/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l" t="t" r="r" b="b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4"/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l" t="t" r="r" b="b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4"/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l" t="t" r="r" b="b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4"/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l" t="t" r="r" b="b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1A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6"/>
          <p:cNvSpPr txBox="1">
            <a:spLocks noGrp="1"/>
          </p:cNvSpPr>
          <p:nvPr>
            <p:ph type="title"/>
          </p:nvPr>
        </p:nvSpPr>
        <p:spPr>
          <a:xfrm>
            <a:off x="922000" y="586650"/>
            <a:ext cx="50292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Miembros del </a:t>
            </a:r>
            <a:r>
              <a:rPr lang="en" sz="3600">
                <a:solidFill>
                  <a:srgbClr val="1ABC9C"/>
                </a:solidFill>
              </a:rPr>
              <a:t>Equipo</a:t>
            </a:r>
            <a:endParaRPr sz="3600">
              <a:solidFill>
                <a:srgbClr val="1ABC9C"/>
              </a:solidFill>
            </a:endParaRPr>
          </a:p>
        </p:txBody>
      </p:sp>
      <p:sp>
        <p:nvSpPr>
          <p:cNvPr id="257" name="Google Shape;257;p36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258" name="Google Shape;258;p36"/>
          <p:cNvPicPr preferRelativeResize="0"/>
          <p:nvPr/>
        </p:nvPicPr>
        <p:blipFill rotWithShape="1">
          <a:blip r:embed="rId3">
            <a:alphaModFix/>
          </a:blip>
          <a:srcRect l="-1364" r="76191"/>
          <a:stretch/>
        </p:blipFill>
        <p:spPr>
          <a:xfrm>
            <a:off x="7972850" y="249550"/>
            <a:ext cx="981748" cy="9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6"/>
          <p:cNvPicPr preferRelativeResize="0"/>
          <p:nvPr/>
        </p:nvPicPr>
        <p:blipFill>
          <a:blip r:embed="rId4"/>
          <a:srcRect t="12500" b="12500"/>
          <a:stretch/>
        </p:blipFill>
        <p:spPr>
          <a:xfrm>
            <a:off x="756468" y="1212700"/>
            <a:ext cx="1846845" cy="1813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0" name="Google Shape;260;p36"/>
          <p:cNvSpPr txBox="1"/>
          <p:nvPr/>
        </p:nvSpPr>
        <p:spPr>
          <a:xfrm>
            <a:off x="825340" y="3026200"/>
            <a:ext cx="1709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Fundador 1</a:t>
            </a:r>
            <a:endParaRPr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61" name="Google Shape;261;p36"/>
          <p:cNvSpPr txBox="1"/>
          <p:nvPr/>
        </p:nvSpPr>
        <p:spPr>
          <a:xfrm>
            <a:off x="825340" y="3295900"/>
            <a:ext cx="1568628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 dirty="0">
                <a:solidFill>
                  <a:srgbClr val="434343"/>
                </a:solidFill>
                <a:latin typeface="Raleway Light"/>
                <a:ea typeface="Raleway Light"/>
                <a:cs typeface="Raleway Light"/>
                <a:sym typeface="Raleway Light"/>
              </a:rPr>
              <a:t>Desarrolladora de Front-end</a:t>
            </a:r>
            <a:endParaRPr sz="1000" dirty="0">
              <a:solidFill>
                <a:srgbClr val="434343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grpSp>
        <p:nvGrpSpPr>
          <p:cNvPr id="262" name="Google Shape;262;p36"/>
          <p:cNvGrpSpPr/>
          <p:nvPr/>
        </p:nvGrpSpPr>
        <p:grpSpPr>
          <a:xfrm>
            <a:off x="2997725" y="2368145"/>
            <a:ext cx="1574275" cy="1846841"/>
            <a:chOff x="3319843" y="1572861"/>
            <a:chExt cx="2265900" cy="2696715"/>
          </a:xfrm>
        </p:grpSpPr>
        <p:pic>
          <p:nvPicPr>
            <p:cNvPr id="263" name="Google Shape;263;p36"/>
            <p:cNvPicPr preferRelativeResize="0"/>
            <p:nvPr/>
          </p:nvPicPr>
          <p:blipFill>
            <a:blip r:embed="rId5"/>
            <a:srcRect t="9570" b="9570"/>
            <a:stretch/>
          </p:blipFill>
          <p:spPr>
            <a:xfrm>
              <a:off x="3319843" y="1572861"/>
              <a:ext cx="2265900" cy="22659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264" name="Google Shape;264;p36"/>
            <p:cNvSpPr txBox="1"/>
            <p:nvPr/>
          </p:nvSpPr>
          <p:spPr>
            <a:xfrm>
              <a:off x="3717438" y="382317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434343"/>
                  </a:solidFill>
                  <a:latin typeface="Raleway ExtraBold"/>
                  <a:ea typeface="Raleway ExtraBold"/>
                  <a:cs typeface="Raleway ExtraBold"/>
                  <a:sym typeface="Raleway ExtraBold"/>
                </a:rPr>
                <a:t>Fundador 2</a:t>
              </a:r>
              <a:endParaRPr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endParaRPr>
            </a:p>
          </p:txBody>
        </p:sp>
        <p:sp>
          <p:nvSpPr>
            <p:cNvPr id="265" name="Google Shape;265;p36"/>
            <p:cNvSpPr txBox="1"/>
            <p:nvPr/>
          </p:nvSpPr>
          <p:spPr>
            <a:xfrm>
              <a:off x="3694499" y="4099328"/>
              <a:ext cx="1891243" cy="170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HN" sz="1000" dirty="0">
                  <a:solidFill>
                    <a:srgbClr val="434343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Desarrollador de Back-</a:t>
              </a:r>
              <a:r>
                <a:rPr lang="es-HN" sz="1000" dirty="0" err="1">
                  <a:solidFill>
                    <a:srgbClr val="434343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end</a:t>
              </a:r>
              <a:endParaRPr sz="1000" dirty="0">
                <a:solidFill>
                  <a:srgbClr val="434343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endParaRPr sz="1000" dirty="0">
                <a:solidFill>
                  <a:srgbClr val="434343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</p:grpSp>
      <p:grpSp>
        <p:nvGrpSpPr>
          <p:cNvPr id="266" name="Google Shape;266;p36"/>
          <p:cNvGrpSpPr/>
          <p:nvPr/>
        </p:nvGrpSpPr>
        <p:grpSpPr>
          <a:xfrm>
            <a:off x="4966414" y="1444050"/>
            <a:ext cx="1574275" cy="1972271"/>
            <a:chOff x="6262300" y="1557275"/>
            <a:chExt cx="2265900" cy="2895451"/>
          </a:xfrm>
        </p:grpSpPr>
        <p:pic>
          <p:nvPicPr>
            <p:cNvPr id="267" name="Google Shape;267;p36"/>
            <p:cNvPicPr preferRelativeResize="0"/>
            <p:nvPr/>
          </p:nvPicPr>
          <p:blipFill>
            <a:blip r:embed="rId6"/>
            <a:srcRect t="21875" b="21875"/>
            <a:stretch/>
          </p:blipFill>
          <p:spPr>
            <a:xfrm>
              <a:off x="6262300" y="1557275"/>
              <a:ext cx="2265900" cy="22659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268" name="Google Shape;268;p36"/>
            <p:cNvSpPr txBox="1"/>
            <p:nvPr/>
          </p:nvSpPr>
          <p:spPr>
            <a:xfrm>
              <a:off x="6563613" y="382317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434343"/>
                  </a:solidFill>
                  <a:latin typeface="Raleway ExtraBold"/>
                  <a:ea typeface="Raleway ExtraBold"/>
                  <a:cs typeface="Raleway ExtraBold"/>
                  <a:sym typeface="Raleway ExtraBold"/>
                </a:rPr>
                <a:t>Fundador 3</a:t>
              </a:r>
              <a:endParaRPr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endParaRPr>
            </a:p>
          </p:txBody>
        </p:sp>
        <p:sp>
          <p:nvSpPr>
            <p:cNvPr id="269" name="Google Shape;269;p36"/>
            <p:cNvSpPr txBox="1"/>
            <p:nvPr/>
          </p:nvSpPr>
          <p:spPr>
            <a:xfrm>
              <a:off x="6540675" y="4099326"/>
              <a:ext cx="1755000" cy="35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HN" sz="1000" dirty="0">
                  <a:solidFill>
                    <a:srgbClr val="434343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Desarrolladora de Front-</a:t>
              </a:r>
              <a:r>
                <a:rPr lang="es-HN" sz="1000" dirty="0" err="1">
                  <a:solidFill>
                    <a:srgbClr val="434343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end</a:t>
              </a:r>
              <a:endParaRPr sz="1000" dirty="0">
                <a:solidFill>
                  <a:srgbClr val="434343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endParaRPr sz="1000" dirty="0">
                <a:solidFill>
                  <a:srgbClr val="434343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</p:grpSp>
      <p:grpSp>
        <p:nvGrpSpPr>
          <p:cNvPr id="18" name="Google Shape;266;p36">
            <a:extLst>
              <a:ext uri="{FF2B5EF4-FFF2-40B4-BE49-F238E27FC236}">
                <a16:creationId xmlns:a16="http://schemas.microsoft.com/office/drawing/2014/main" id="{00344961-96A7-F4DC-6A4F-DE37697D8039}"/>
              </a:ext>
            </a:extLst>
          </p:cNvPr>
          <p:cNvGrpSpPr/>
          <p:nvPr/>
        </p:nvGrpSpPr>
        <p:grpSpPr>
          <a:xfrm>
            <a:off x="6824490" y="2040064"/>
            <a:ext cx="1574275" cy="1972271"/>
            <a:chOff x="6262300" y="1557275"/>
            <a:chExt cx="2265900" cy="2895451"/>
          </a:xfrm>
        </p:grpSpPr>
        <p:pic>
          <p:nvPicPr>
            <p:cNvPr id="19" name="Google Shape;267;p36">
              <a:extLst>
                <a:ext uri="{FF2B5EF4-FFF2-40B4-BE49-F238E27FC236}">
                  <a16:creationId xmlns:a16="http://schemas.microsoft.com/office/drawing/2014/main" id="{50164713-A0E1-DF74-5685-712DBC5A6E90}"/>
                </a:ext>
              </a:extLst>
            </p:cNvPr>
            <p:cNvPicPr preferRelativeResize="0"/>
            <p:nvPr/>
          </p:nvPicPr>
          <p:blipFill>
            <a:blip r:embed="rId7"/>
            <a:srcRect t="15293" b="15293"/>
            <a:stretch/>
          </p:blipFill>
          <p:spPr>
            <a:xfrm>
              <a:off x="6262300" y="1557275"/>
              <a:ext cx="2265900" cy="22659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20" name="Google Shape;268;p36">
              <a:extLst>
                <a:ext uri="{FF2B5EF4-FFF2-40B4-BE49-F238E27FC236}">
                  <a16:creationId xmlns:a16="http://schemas.microsoft.com/office/drawing/2014/main" id="{4638FFCD-0D6B-2C08-BCB0-A8BC6625EA1A}"/>
                </a:ext>
              </a:extLst>
            </p:cNvPr>
            <p:cNvSpPr txBox="1"/>
            <p:nvPr/>
          </p:nvSpPr>
          <p:spPr>
            <a:xfrm>
              <a:off x="6563613" y="382317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434343"/>
                  </a:solidFill>
                  <a:latin typeface="Raleway ExtraBold"/>
                  <a:ea typeface="Raleway ExtraBold"/>
                  <a:cs typeface="Raleway ExtraBold"/>
                  <a:sym typeface="Raleway ExtraBold"/>
                </a:rPr>
                <a:t>Fundador 4</a:t>
              </a:r>
              <a:endParaRPr dirty="0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endParaRPr>
            </a:p>
          </p:txBody>
        </p:sp>
        <p:sp>
          <p:nvSpPr>
            <p:cNvPr id="21" name="Google Shape;269;p36">
              <a:extLst>
                <a:ext uri="{FF2B5EF4-FFF2-40B4-BE49-F238E27FC236}">
                  <a16:creationId xmlns:a16="http://schemas.microsoft.com/office/drawing/2014/main" id="{F7C79ABB-4919-CA3F-A411-209BAA55ADA5}"/>
                </a:ext>
              </a:extLst>
            </p:cNvPr>
            <p:cNvSpPr txBox="1"/>
            <p:nvPr/>
          </p:nvSpPr>
          <p:spPr>
            <a:xfrm>
              <a:off x="6540675" y="4099326"/>
              <a:ext cx="1755000" cy="35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HN" sz="1000" dirty="0">
                  <a:solidFill>
                    <a:srgbClr val="434343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Desarrollador de Back-</a:t>
              </a:r>
              <a:r>
                <a:rPr lang="es-HN" sz="1000" dirty="0" err="1">
                  <a:solidFill>
                    <a:srgbClr val="434343"/>
                  </a:solidFill>
                  <a:latin typeface="Raleway Light"/>
                  <a:ea typeface="Raleway Light"/>
                  <a:cs typeface="Raleway Light"/>
                  <a:sym typeface="Raleway Light"/>
                </a:rPr>
                <a:t>end</a:t>
              </a:r>
              <a:endParaRPr sz="1000" dirty="0">
                <a:solidFill>
                  <a:srgbClr val="434343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endParaRPr sz="1000" dirty="0">
                <a:solidFill>
                  <a:srgbClr val="434343"/>
                </a:solidFill>
                <a:latin typeface="Raleway Light"/>
                <a:ea typeface="Raleway Light"/>
                <a:cs typeface="Raleway Light"/>
                <a:sym typeface="Raleway Light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>
            <a:spLocks noGrp="1"/>
          </p:cNvSpPr>
          <p:nvPr>
            <p:ph type="sldNum" idx="12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75" name="Google Shape;275;p37"/>
          <p:cNvSpPr txBox="1">
            <a:spLocks noGrp="1"/>
          </p:cNvSpPr>
          <p:nvPr>
            <p:ph type="ctrTitle" idx="4294967295"/>
          </p:nvPr>
        </p:nvSpPr>
        <p:spPr>
          <a:xfrm>
            <a:off x="509154" y="473750"/>
            <a:ext cx="6593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>
                <a:solidFill>
                  <a:srgbClr val="1ABC9C"/>
                </a:solidFill>
              </a:rPr>
              <a:t>¡Pruébalo!</a:t>
            </a:r>
            <a:endParaRPr sz="9600" dirty="0">
              <a:solidFill>
                <a:srgbClr val="1ABC9C"/>
              </a:solidFill>
            </a:endParaRPr>
          </a:p>
        </p:txBody>
      </p:sp>
      <p:sp>
        <p:nvSpPr>
          <p:cNvPr id="276" name="Google Shape;276;p37"/>
          <p:cNvSpPr txBox="1">
            <a:spLocks noGrp="1"/>
          </p:cNvSpPr>
          <p:nvPr>
            <p:ph type="subTitle" idx="4294967295"/>
          </p:nvPr>
        </p:nvSpPr>
        <p:spPr>
          <a:xfrm>
            <a:off x="509154" y="1945600"/>
            <a:ext cx="6593700" cy="10573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HN" sz="2000" b="1" dirty="0">
                <a:hlinkClick r:id="rId3"/>
              </a:rPr>
              <a:t>https://www.instagram.com/lacasadelpilon/</a:t>
            </a:r>
            <a:endParaRPr lang="es-HN" sz="20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dirty="0"/>
              <a:t>Puedes encontrarme en Instagram</a:t>
            </a:r>
            <a:endParaRPr sz="3200" b="1" dirty="0"/>
          </a:p>
        </p:txBody>
      </p:sp>
      <p:sp>
        <p:nvSpPr>
          <p:cNvPr id="277" name="Google Shape;277;p37"/>
          <p:cNvSpPr/>
          <p:nvPr/>
        </p:nvSpPr>
        <p:spPr>
          <a:xfrm>
            <a:off x="8054234" y="327815"/>
            <a:ext cx="798007" cy="725835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1ABC9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76;p37">
            <a:extLst>
              <a:ext uri="{FF2B5EF4-FFF2-40B4-BE49-F238E27FC236}">
                <a16:creationId xmlns:a16="http://schemas.microsoft.com/office/drawing/2014/main" id="{B5219A17-85E7-EDDE-1A94-CB8EE87595F3}"/>
              </a:ext>
            </a:extLst>
          </p:cNvPr>
          <p:cNvSpPr txBox="1">
            <a:spLocks/>
          </p:cNvSpPr>
          <p:nvPr/>
        </p:nvSpPr>
        <p:spPr>
          <a:xfrm>
            <a:off x="509154" y="2836718"/>
            <a:ext cx="6593700" cy="1201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●"/>
              <a:defRPr sz="1800" b="0" i="0" u="none" strike="noStrike" cap="non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○"/>
              <a:defRPr sz="1800" b="0" i="0" u="none" strike="noStrike" cap="non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■"/>
              <a:defRPr sz="1800" b="0" i="0" u="none" strike="noStrike" cap="non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sz="1800" b="0" i="0" u="none" strike="noStrike" cap="non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sz="1800" b="0" i="0" u="none" strike="noStrike" cap="non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sz="1800" b="0" i="0" u="none" strike="noStrike" cap="non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sz="1800" b="0" i="0" u="none" strike="noStrike" cap="non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sz="1800" b="0" i="0" u="none" strike="noStrike" cap="non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sz="1800" b="0" i="0" u="none" strike="noStrike" cap="non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indent="0">
              <a:buFont typeface="Raleway Light"/>
              <a:buNone/>
            </a:pPr>
            <a:r>
              <a:rPr lang="es-HN" b="1" u="sng" dirty="0">
                <a:solidFill>
                  <a:srgbClr val="0070C0"/>
                </a:solidFill>
              </a:rPr>
              <a:t>https://www.facebook.com/La-Casa-Del-Pilon-110989287262452/</a:t>
            </a:r>
          </a:p>
          <a:p>
            <a:pPr marL="0" indent="0">
              <a:buFont typeface="Raleway Light"/>
              <a:buNone/>
            </a:pPr>
            <a:r>
              <a:rPr lang="es-HN" dirty="0"/>
              <a:t>Puedes encontrarme en Facebook</a:t>
            </a:r>
          </a:p>
          <a:p>
            <a:pPr marL="0" indent="0">
              <a:buFont typeface="Raleway Light"/>
              <a:buNone/>
            </a:pPr>
            <a:r>
              <a:rPr lang="es-HN" dirty="0"/>
              <a:t>Correo: </a:t>
            </a:r>
            <a:r>
              <a:rPr lang="es-HN" b="0" i="0" dirty="0">
                <a:solidFill>
                  <a:srgbClr val="4599FF"/>
                </a:solidFill>
                <a:effectLst/>
                <a:latin typeface="Segoe UI Historic" panose="020B0502040204020203" pitchFamily="34" charset="0"/>
              </a:rPr>
              <a:t>lacasadelpilon@gmail.com</a:t>
            </a:r>
            <a:endParaRPr lang="es-HN" dirty="0"/>
          </a:p>
          <a:p>
            <a:pPr marL="0" indent="0">
              <a:buFont typeface="Raleway Light"/>
              <a:buNone/>
            </a:pPr>
            <a:endParaRPr lang="es-HN" sz="36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livi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livi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175</Words>
  <Application>Microsoft Office PowerPoint</Application>
  <PresentationFormat>Presentación en pantalla (16:9)</PresentationFormat>
  <Paragraphs>63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Raleway</vt:lpstr>
      <vt:lpstr>Raleway ExtraBold</vt:lpstr>
      <vt:lpstr>Raleway Light</vt:lpstr>
      <vt:lpstr>Segoe UI Historic</vt:lpstr>
      <vt:lpstr>Olivia template</vt:lpstr>
      <vt:lpstr>Olivia template</vt:lpstr>
      <vt:lpstr>La Casa del Pilón</vt:lpstr>
      <vt:lpstr>¿Cuál es el problema? </vt:lpstr>
      <vt:lpstr>¿Cómo lo estás solucionando? </vt:lpstr>
      <vt:lpstr>¿Cómo funciona?</vt:lpstr>
      <vt:lpstr>Análisis de la Competencia</vt:lpstr>
      <vt:lpstr>¿Cómo haces Dinero?</vt:lpstr>
      <vt:lpstr>¿Cómo obtendrás usuarios?</vt:lpstr>
      <vt:lpstr>Miembros del Equipo</vt:lpstr>
      <vt:lpstr>¡Pruébalo!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Reef  Pitch Deck</dc:title>
  <dc:creator>valeria figueroa</dc:creator>
  <cp:lastModifiedBy>VALERIA SOFIA FIGUEROA SORTO</cp:lastModifiedBy>
  <cp:revision>2</cp:revision>
  <dcterms:modified xsi:type="dcterms:W3CDTF">2022-05-16T04:29:18Z</dcterms:modified>
</cp:coreProperties>
</file>